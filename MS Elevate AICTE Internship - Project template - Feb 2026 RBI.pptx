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7"/>
  </p:notesMasterIdLst>
  <p:sldIdLst>
    <p:sldId id="588" r:id="rId3"/>
    <p:sldId id="571" r:id="rId4"/>
    <p:sldId id="572" r:id="rId5"/>
    <p:sldId id="573" r:id="rId6"/>
    <p:sldId id="574" r:id="rId7"/>
    <p:sldId id="575" r:id="rId8"/>
    <p:sldId id="585" r:id="rId9"/>
    <p:sldId id="586" r:id="rId10"/>
    <p:sldId id="587" r:id="rId11"/>
    <p:sldId id="580" r:id="rId12"/>
    <p:sldId id="577" r:id="rId13"/>
    <p:sldId id="579" r:id="rId14"/>
    <p:sldId id="578" r:id="rId15"/>
    <p:sldId id="536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570"/>
    <a:srgbClr val="34A751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20" autoAdjust="0"/>
  </p:normalViewPr>
  <p:slideViewPr>
    <p:cSldViewPr snapToGrid="0">
      <p:cViewPr varScale="1">
        <p:scale>
          <a:sx n="65" d="100"/>
          <a:sy n="65" d="100"/>
        </p:scale>
        <p:origin x="912" y="60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897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ivyapallabothula02-alt/MICROSOFT-ELEVATE-POWERBI-DASHBOSRD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29242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endParaRPr lang="en-US" sz="5100" b="1" dirty="0">
              <a:solidFill>
                <a:srgbClr val="263570"/>
              </a:solidFill>
            </a:endParaRPr>
          </a:p>
          <a:p>
            <a:pPr algn="l"/>
            <a:r>
              <a:rPr lang="en-IN" sz="9300" b="1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RBI Liabilities and Assets Analysis Dashboard</a:t>
            </a:r>
            <a:endParaRPr lang="en-IN" sz="9300" kern="100" dirty="0">
              <a:solidFill>
                <a:srgbClr val="26357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sz="51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9889"/>
            <a:ext cx="4289868" cy="22924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cap="all" dirty="0">
                <a:solidFill>
                  <a:srgbClr val="263570"/>
                </a:solidFill>
              </a:rPr>
              <a:t>Presented By</a:t>
            </a:r>
            <a:endParaRPr lang="en-US" sz="1600" cap="all" dirty="0">
              <a:solidFill>
                <a:srgbClr val="263570"/>
              </a:solidFill>
            </a:endParaRP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b="1" cap="all" dirty="0">
                <a:solidFill>
                  <a:srgbClr val="263570"/>
                </a:solidFill>
              </a:rPr>
              <a:t>Student Name: p . DIVYA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b="1" cap="all" dirty="0">
                <a:solidFill>
                  <a:srgbClr val="263570"/>
                </a:solidFill>
              </a:rPr>
              <a:t>College Name: </a:t>
            </a:r>
            <a:r>
              <a:rPr lang="en-US" sz="1500" b="1" cap="all" dirty="0">
                <a:solidFill>
                  <a:srgbClr val="263570"/>
                </a:solidFill>
              </a:rPr>
              <a:t>INSTITUTE OF COST  ACCOUNTANTS  OF INDIA &amp; CAREER DEGREE COLLEGE 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b="1" cap="all" dirty="0">
                <a:solidFill>
                  <a:srgbClr val="263570"/>
                </a:solidFill>
              </a:rPr>
              <a:t>Department: CMA INTER &amp; B.COM (COMPUTERS)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b="1" cap="all" dirty="0">
                <a:solidFill>
                  <a:srgbClr val="263570"/>
                </a:solidFill>
              </a:rPr>
              <a:t>Email ID: </a:t>
            </a:r>
            <a:r>
              <a:rPr lang="en-US" sz="1600" b="1" dirty="0">
                <a:solidFill>
                  <a:srgbClr val="263570"/>
                </a:solidFill>
              </a:rPr>
              <a:t>divyapallabothula</a:t>
            </a:r>
            <a:r>
              <a:rPr lang="en-US" sz="1600" b="1" cap="all" dirty="0">
                <a:solidFill>
                  <a:srgbClr val="263570"/>
                </a:solidFill>
              </a:rPr>
              <a:t>02@</a:t>
            </a:r>
            <a:r>
              <a:rPr lang="en-US" sz="1600" b="1" dirty="0">
                <a:solidFill>
                  <a:srgbClr val="263570"/>
                </a:solidFill>
              </a:rPr>
              <a:t>gmail.com</a:t>
            </a:r>
            <a:endParaRPr lang="en-US" sz="1600" b="1" cap="all" dirty="0">
              <a:solidFill>
                <a:srgbClr val="26357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88F3F-AD4C-81EA-1336-D2C00EFCC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90" y="928648"/>
            <a:ext cx="4590784" cy="4936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3C0157-EE59-91CA-F5DE-5E3A5EEC33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656" y="928649"/>
            <a:ext cx="4591118" cy="46314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504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OUTLINE: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Problem Statement (</a:t>
            </a:r>
            <a:r>
              <a:rPr lang="en-US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Should not include solution</a:t>
            </a:r>
            <a:r>
              <a:rPr lang="en-US" sz="22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Proposed System/Solution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System Development Approach (</a:t>
            </a:r>
            <a:r>
              <a:rPr lang="en-US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Technology Used</a:t>
            </a:r>
            <a:r>
              <a:rPr lang="en-US" sz="22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Algorithm &amp; Deployment 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Result (</a:t>
            </a:r>
            <a:r>
              <a:rPr lang="en-US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Output Image</a:t>
            </a:r>
            <a:r>
              <a:rPr lang="en-US" sz="22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Conclusion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Future Scope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References</a:t>
            </a: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5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Reserve Bank of India manages large amounts of financial data related to assets, liabilities, deposits, and loans. </a:t>
            </a:r>
            <a:r>
              <a:rPr lang="en-IN" sz="2500" kern="100" dirty="0" err="1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Analyzing</a:t>
            </a:r>
            <a:r>
              <a:rPr lang="en-IN" sz="25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this data manually is difficult and time-consuming.</a:t>
            </a:r>
          </a:p>
          <a:p>
            <a:pPr marL="571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There is a need for an interactive system that can</a:t>
            </a:r>
          </a:p>
          <a:p>
            <a:pPr marL="571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kern="100" dirty="0" err="1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IN" sz="20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RBI financial data across different years</a:t>
            </a:r>
          </a:p>
          <a:p>
            <a:pPr marL="571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Compare assets and liabilities trends</a:t>
            </a:r>
          </a:p>
          <a:p>
            <a:pPr marL="571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deposit distribution and loan categories</a:t>
            </a:r>
          </a:p>
          <a:p>
            <a:pPr marL="571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Provide quick insights for financial decision making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0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Without visualization tools, it becomes difficult to identify patterns, trends, and financial changes over time.</a:t>
            </a:r>
          </a:p>
          <a:p>
            <a:pPr marL="571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IN" sz="2000" kern="100" dirty="0">
              <a:solidFill>
                <a:srgbClr val="26357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PROPOSED</a:t>
            </a:r>
            <a:r>
              <a:rPr lang="en-US" sz="4000" b="1" cap="all" dirty="0">
                <a:latin typeface="Arial"/>
                <a:cs typeface="Arial"/>
              </a:rPr>
              <a:t> </a:t>
            </a:r>
            <a:r>
              <a:rPr lang="en-US" sz="40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5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solve this problem, a </a:t>
            </a:r>
            <a:r>
              <a:rPr lang="en-IN" sz="2500" b="1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 BI dashboard</a:t>
            </a:r>
            <a:r>
              <a:rPr lang="en-IN" sz="25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developed to </a:t>
            </a:r>
            <a:r>
              <a:rPr lang="en-IN" sz="2500" kern="100" dirty="0" err="1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IN" sz="25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RBI financial data efficiently.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0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proposed system: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Collects and cleans RBI financial datasets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Uses Power BI to create interactive dashboards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Visualizes assets, liabilities, deposits, and loans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Allows filtering by year and asset categories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Provides insights using charts, tables, and KPI cards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0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system helps users easily understand financial trends and make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SYSTEM</a:t>
            </a:r>
            <a:r>
              <a:rPr lang="en-US" sz="4000" b="1" cap="all" dirty="0">
                <a:latin typeface="Arial"/>
                <a:cs typeface="Arial"/>
              </a:rPr>
              <a:t>  </a:t>
            </a:r>
            <a:r>
              <a:rPr lang="en-US" sz="40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APPROACH: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9" y="1906512"/>
            <a:ext cx="10515600" cy="4251960"/>
          </a:xfrm>
        </p:spPr>
        <p:txBody>
          <a:bodyPr vert="horz" lIns="91440" tIns="45720" rIns="91440" bIns="45720" rtlCol="0">
            <a:normAutofit fontScale="40000" lnSpcReduction="20000"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3800" b="1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 Used</a:t>
            </a:r>
            <a:endParaRPr lang="en-IN" sz="3800" kern="100" dirty="0">
              <a:solidFill>
                <a:srgbClr val="26357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3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Microsoft Excel – Data cleaning and preprocessing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3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Power BI – Data visualization and dashboard creation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38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Techniques Used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3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Data Transformation using Power Query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3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Data </a:t>
            </a:r>
            <a:r>
              <a:rPr lang="en-IN" sz="3300" kern="100" dirty="0" err="1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Modeling</a:t>
            </a:r>
            <a:endParaRPr lang="en-IN" sz="3300" kern="100" dirty="0">
              <a:solidFill>
                <a:srgbClr val="26357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3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DAX Measures for calculations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3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Interactive Visualizations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38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Key Visualizations Used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3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KPI Cards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3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Bar Charts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3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Donut Charts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3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Tables Stacked Charts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3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Slicers for filtering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900" kern="100" dirty="0">
              <a:solidFill>
                <a:srgbClr val="26357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IN" sz="40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EXECUTION FRAMEWORK</a:t>
            </a:r>
            <a:r>
              <a:rPr lang="en-US" sz="40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72195"/>
            <a:ext cx="10515600" cy="4599211"/>
          </a:xfr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700" b="1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Preparation</a:t>
            </a:r>
            <a:endParaRPr lang="en-IN" sz="2700" kern="100" dirty="0">
              <a:solidFill>
                <a:srgbClr val="26357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5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RBI financial data is imported into Power BI.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5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cleaning is performed using </a:t>
            </a:r>
            <a:r>
              <a:rPr lang="en-IN" sz="2500" b="1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 Query</a:t>
            </a:r>
            <a:r>
              <a:rPr lang="en-IN" sz="25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5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Missing values and inconsistencies are handled</a:t>
            </a:r>
            <a:r>
              <a:rPr lang="en-IN" sz="2300" kern="100" dirty="0">
                <a:solidFill>
                  <a:srgbClr val="26357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7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Data </a:t>
            </a:r>
            <a:r>
              <a:rPr lang="en-IN" sz="2700" b="1" kern="100" dirty="0" err="1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Modeling</a:t>
            </a:r>
            <a:endParaRPr lang="en-IN" sz="2700" b="1" kern="100" dirty="0">
              <a:solidFill>
                <a:srgbClr val="26357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5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Relationships between datasets are created.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5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Measures such as Average Total  Assets ,  Average Total Deposits and Average Total Liabilities are calculated using DAX.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7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Dashboard Development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5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Visualizations are created to represent: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5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Asset distribution by category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5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Liabilities breakdown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5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Deposits analysis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5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Loans and advances by category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5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Year-wise financial comparison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7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Deployment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5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The final dashboard is published and can be shared for analysis and reporting.</a:t>
            </a:r>
            <a:endParaRPr lang="en-GB" sz="2500" kern="100" dirty="0">
              <a:solidFill>
                <a:srgbClr val="26357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CC1AF-65FA-E631-4BC0-B9D9ACF07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C6794-33E6-EB45-5B87-8D697D3EE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Screen Shots 1: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9B978-760F-EB32-6088-18AD19159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84" y="1133761"/>
            <a:ext cx="10235381" cy="483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45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4E1B-9EA2-984B-27F7-B6AD4B00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Screen shot 2: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674E-87C8-46AE-5F7A-C3B72E732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6ADCF0-53CC-C9C8-1F87-D29C0A9A8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632" y="1052809"/>
            <a:ext cx="10058400" cy="4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097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310CD-61DB-12B2-CB1F-0B33AAB20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8C16E-C3B0-926C-669F-A4D8B0677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Screen shot 3: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DF939-C92D-1E6F-9D33-9E4AA592A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1" y="1086143"/>
            <a:ext cx="10161638" cy="4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1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RESULT: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2C9B-C4AF-D0DB-DE74-862D9812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584103"/>
            <a:ext cx="10515600" cy="4251960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0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The developed dashboard provides clear insights into RBI financial data.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3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Key results include: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1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Sum of Total Liabilities – 501,813.5M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1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Average Total Deposits – 5,388.87M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1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Average Total Assets – 22,809.7M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1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Average Total Liabilities – 22,809.71M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1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Sum of Total Assets – 501,813.5M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1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Sum of Deposits – 118,555.03M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3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Insights: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Foreign currency assets form the largest asset category.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Notes in circulation contribute the largest share of liabilities.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Loans and advances vary across different categories and quarters.</a:t>
            </a:r>
          </a:p>
          <a:p>
            <a:r>
              <a:rPr lang="en-IN" sz="20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Financial trends can be </a:t>
            </a:r>
            <a:r>
              <a:rPr lang="en-IN" sz="2000" kern="100" dirty="0" err="1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analyzed</a:t>
            </a:r>
            <a:r>
              <a:rPr lang="en-IN" sz="20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year-wise</a:t>
            </a:r>
            <a:endParaRPr lang="en-US" sz="2000" kern="100" dirty="0">
              <a:solidFill>
                <a:srgbClr val="26357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652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93" y="1651819"/>
            <a:ext cx="10515600" cy="4222532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5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The RBI Assets and Liabilities Dashboard successfully visualizes complex financial data using Power BI.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The system helps: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Understand financial trends over multiple years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 err="1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deposits, assets, and liabilities easily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Identify major contributors to RBI financial structure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The dashboard improves data analysis efficiency and supports better financial insights</a:t>
            </a:r>
            <a:r>
              <a:rPr lang="en-IN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FUTURE SCOPE: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The project can be further improved by: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Integrating real-time RBI financial data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Adding predictive analytics for future financial trends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Including more advanced financial indicators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Deploying the dashboard as a web-based analytics platform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Applying machine learning models for financial forecasting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RBI Official Financial Reports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Microsoft Power BI Documentation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Microsoft Learn – Data Analytics Modules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AICTE – Microsoft Elevate Internship Learning Resources</a:t>
            </a:r>
          </a:p>
          <a:p>
            <a:pPr marL="0" indent="0">
              <a:buNone/>
            </a:pPr>
            <a:r>
              <a:rPr lang="en-IN" sz="2200" kern="100" dirty="0">
                <a:solidFill>
                  <a:srgbClr val="26357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GitHub Link</a:t>
            </a:r>
            <a:r>
              <a:rPr lang="en-IN" sz="2200" dirty="0">
                <a:latin typeface="Franklin Gothic Book"/>
              </a:rPr>
              <a:t>:</a:t>
            </a:r>
            <a:r>
              <a:rPr lang="en-IN" sz="2200" dirty="0">
                <a:solidFill>
                  <a:srgbClr val="0070C0"/>
                </a:solidFill>
                <a:latin typeface="Franklin Gothic Book"/>
              </a:rPr>
              <a:t> </a:t>
            </a:r>
            <a:r>
              <a:rPr lang="en-IN" sz="2200" dirty="0">
                <a:solidFill>
                  <a:srgbClr val="0070C0"/>
                </a:solidFill>
                <a:latin typeface="Franklin Gothic Book"/>
                <a:hlinkClick r:id="rId2"/>
              </a:rPr>
              <a:t>https://github.com/divyapallabothula02-alt/MICROSOFT-ELEVATE-POWERBI-DASHBOSRD</a:t>
            </a:r>
            <a:r>
              <a:rPr lang="en-IN" sz="2200" u="sng" dirty="0">
                <a:solidFill>
                  <a:srgbClr val="0070C0"/>
                </a:solidFill>
                <a:latin typeface="Franklin Gothic Book"/>
              </a:rPr>
              <a:t> </a:t>
            </a: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628</Words>
  <Application>Microsoft Office PowerPoint</Application>
  <PresentationFormat>Widescreen</PresentationFormat>
  <Paragraphs>109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Franklin Gothic Book</vt:lpstr>
      <vt:lpstr>Symbol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EXECUTION FRAMEWORK:</vt:lpstr>
      <vt:lpstr> </vt:lpstr>
      <vt:lpstr>Screen shot 2:</vt:lpstr>
      <vt:lpstr> 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siva ram</cp:lastModifiedBy>
  <cp:revision>114</cp:revision>
  <dcterms:created xsi:type="dcterms:W3CDTF">2024-05-21T11:55:07Z</dcterms:created>
  <dcterms:modified xsi:type="dcterms:W3CDTF">2026-03-11T06:05:29Z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